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93a89d1394f80" /><Relationship Type="http://schemas.openxmlformats.org/officeDocument/2006/relationships/extended-properties" Target="/docProps/app.xml" Id="R92d8d72538b64f25" /><Relationship Type="http://schemas.openxmlformats.org/officeDocument/2006/relationships/officeDocument" Target="/ppt/presentation.xml" Id="R311baa248c1446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414115d4f4cf8"/>
  </p:sldMasterIdLst>
  <p:notesMasterIdLst>
    <p:notesMasterId xmlns:r="http://schemas.openxmlformats.org/officeDocument/2006/relationships" r:id="R3b6e17d488f44a58"/>
  </p:notesMasterIdLst>
  <p:sldIdLst>
    <p:sldId xmlns:r="http://schemas.openxmlformats.org/officeDocument/2006/relationships" id="256" r:id="R7b011522b95948ac"/>
    <p:sldId xmlns:r="http://schemas.openxmlformats.org/officeDocument/2006/relationships" id="257" r:id="R2efb09acaf3840a7"/>
    <p:sldId xmlns:r="http://schemas.openxmlformats.org/officeDocument/2006/relationships" id="258" r:id="Rd55ecf5595bf495d"/>
    <p:sldId xmlns:r="http://schemas.openxmlformats.org/officeDocument/2006/relationships" id="259" r:id="R4c0e1815c2484c65"/>
    <p:sldId xmlns:r="http://schemas.openxmlformats.org/officeDocument/2006/relationships" id="260" r:id="R0502d160c6e14074"/>
    <p:sldId xmlns:r="http://schemas.openxmlformats.org/officeDocument/2006/relationships" id="261" r:id="R08e36786f10247ed"/>
    <p:sldId xmlns:r="http://schemas.openxmlformats.org/officeDocument/2006/relationships" id="262" r:id="Rc4e3c181294b453b"/>
    <p:sldId xmlns:r="http://schemas.openxmlformats.org/officeDocument/2006/relationships" id="263" r:id="Rec5033718c124d4a"/>
    <p:sldId xmlns:r="http://schemas.openxmlformats.org/officeDocument/2006/relationships" id="264" r:id="Rd36e8e230e334b0b"/>
    <p:sldId xmlns:r="http://schemas.openxmlformats.org/officeDocument/2006/relationships" id="265" r:id="Rf70d4a2b45964696"/>
    <p:sldId xmlns:r="http://schemas.openxmlformats.org/officeDocument/2006/relationships" id="266" r:id="R826e699373004724"/>
    <p:sldId xmlns:r="http://schemas.openxmlformats.org/officeDocument/2006/relationships" id="267" r:id="R379548e0930d48f1"/>
    <p:sldId xmlns:r="http://schemas.openxmlformats.org/officeDocument/2006/relationships" id="268" r:id="Ra46194de87a44f85"/>
    <p:sldId xmlns:r="http://schemas.openxmlformats.org/officeDocument/2006/relationships" id="269" r:id="R643e0b6d3b214547"/>
    <p:sldId xmlns:r="http://schemas.openxmlformats.org/officeDocument/2006/relationships" id="270" r:id="R3c5a44b5a9c44be4"/>
    <p:sldId xmlns:r="http://schemas.openxmlformats.org/officeDocument/2006/relationships" id="271" r:id="Reeb3cd485b4e4e5e"/>
    <p:sldId xmlns:r="http://schemas.openxmlformats.org/officeDocument/2006/relationships" id="272" r:id="R8001cf6b40104b6a"/>
    <p:sldId xmlns:r="http://schemas.openxmlformats.org/officeDocument/2006/relationships" id="273" r:id="R63c0b5b83de84fad"/>
    <p:sldId xmlns:r="http://schemas.openxmlformats.org/officeDocument/2006/relationships" id="274" r:id="R3cd43cd397564573"/>
    <p:sldId xmlns:r="http://schemas.openxmlformats.org/officeDocument/2006/relationships" id="275" r:id="R8ca51957634c4180"/>
    <p:sldId xmlns:r="http://schemas.openxmlformats.org/officeDocument/2006/relationships" id="276" r:id="Rd4e1f48c25a644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48b7bb7cb74156" /><Relationship Type="http://schemas.openxmlformats.org/officeDocument/2006/relationships/slideMaster" Target="/ppt/slideMasters/slideMaster1.xml" Id="R7f7414115d4f4cf8" /><Relationship Type="http://schemas.openxmlformats.org/officeDocument/2006/relationships/notesMaster" Target="/ppt/notesMasters/notesMaster1.xml" Id="R3b6e17d488f44a58" /><Relationship Type="http://schemas.openxmlformats.org/officeDocument/2006/relationships/presProps" Target="/ppt/presProps.xml" Id="Rb77d4301cb504186" /><Relationship Type="http://schemas.openxmlformats.org/officeDocument/2006/relationships/viewProps" Target="/ppt/viewProps.xml" Id="Rb69c41d204dd4b38" /><Relationship Type="http://schemas.openxmlformats.org/officeDocument/2006/relationships/tableStyles" Target="/ppt/tableStyles.xml" Id="R0c858d7050fc4e87" /><Relationship Type="http://schemas.openxmlformats.org/officeDocument/2006/relationships/slide" Target="/ppt/slides/slide1.xml" Id="R7b011522b95948ac" /><Relationship Type="http://schemas.openxmlformats.org/officeDocument/2006/relationships/slide" Target="/ppt/slides/slide2.xml" Id="R2efb09acaf3840a7" /><Relationship Type="http://schemas.openxmlformats.org/officeDocument/2006/relationships/slide" Target="/ppt/slides/slide3.xml" Id="Rd55ecf5595bf495d" /><Relationship Type="http://schemas.openxmlformats.org/officeDocument/2006/relationships/slide" Target="/ppt/slides/slide4.xml" Id="R4c0e1815c2484c65" /><Relationship Type="http://schemas.openxmlformats.org/officeDocument/2006/relationships/slide" Target="/ppt/slides/slide5.xml" Id="R0502d160c6e14074" /><Relationship Type="http://schemas.openxmlformats.org/officeDocument/2006/relationships/slide" Target="/ppt/slides/slide6.xml" Id="R08e36786f10247ed" /><Relationship Type="http://schemas.openxmlformats.org/officeDocument/2006/relationships/slide" Target="/ppt/slides/slide7.xml" Id="Rc4e3c181294b453b" /><Relationship Type="http://schemas.openxmlformats.org/officeDocument/2006/relationships/slide" Target="/ppt/slides/slide8.xml" Id="Rec5033718c124d4a" /><Relationship Type="http://schemas.openxmlformats.org/officeDocument/2006/relationships/slide" Target="/ppt/slides/slide9.xml" Id="Rd36e8e230e334b0b" /><Relationship Type="http://schemas.openxmlformats.org/officeDocument/2006/relationships/slide" Target="/ppt/slides/slide10.xml" Id="Rf70d4a2b45964696" /><Relationship Type="http://schemas.openxmlformats.org/officeDocument/2006/relationships/slide" Target="/ppt/slides/slide11.xml" Id="R826e699373004724" /><Relationship Type="http://schemas.openxmlformats.org/officeDocument/2006/relationships/slide" Target="/ppt/slides/slide12.xml" Id="R379548e0930d48f1" /><Relationship Type="http://schemas.openxmlformats.org/officeDocument/2006/relationships/slide" Target="/ppt/slides/slide13.xml" Id="Ra46194de87a44f85" /><Relationship Type="http://schemas.openxmlformats.org/officeDocument/2006/relationships/slide" Target="/ppt/slides/slide14.xml" Id="R643e0b6d3b214547" /><Relationship Type="http://schemas.openxmlformats.org/officeDocument/2006/relationships/slide" Target="/ppt/slides/slide15.xml" Id="R3c5a44b5a9c44be4" /><Relationship Type="http://schemas.openxmlformats.org/officeDocument/2006/relationships/slide" Target="/ppt/slides/slide16.xml" Id="Reeb3cd485b4e4e5e" /><Relationship Type="http://schemas.openxmlformats.org/officeDocument/2006/relationships/slide" Target="/ppt/slides/slide17.xml" Id="R8001cf6b40104b6a" /><Relationship Type="http://schemas.openxmlformats.org/officeDocument/2006/relationships/slide" Target="/ppt/slides/slide18.xml" Id="R63c0b5b83de84fad" /><Relationship Type="http://schemas.openxmlformats.org/officeDocument/2006/relationships/slide" Target="/ppt/slides/slide19.xml" Id="R3cd43cd397564573" /><Relationship Type="http://schemas.openxmlformats.org/officeDocument/2006/relationships/slide" Target="/ppt/slides/slide20.xml" Id="R8ca51957634c4180" /><Relationship Type="http://schemas.openxmlformats.org/officeDocument/2006/relationships/slide" Target="/ppt/slides/slide21.xml" Id="Rd4e1f48c25a644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8e6789d828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5bb0563c3c4e08" /><Relationship Type="http://schemas.openxmlformats.org/officeDocument/2006/relationships/notesMaster" Target="/ppt/notesMasters/notesMaster1.xml" Id="Rd0d83c6859f147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f55ab9057a4193" /><Relationship Type="http://schemas.openxmlformats.org/officeDocument/2006/relationships/notesMaster" Target="/ppt/notesMasters/notesMaster1.xml" Id="Rf16661d5e24040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50e0c35e54fb2" /><Relationship Type="http://schemas.openxmlformats.org/officeDocument/2006/relationships/notesMaster" Target="/ppt/notesMasters/notesMaster1.xml" Id="R77f5a0b9202d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0817584ae4e00" /><Relationship Type="http://schemas.openxmlformats.org/officeDocument/2006/relationships/notesMaster" Target="/ppt/notesMasters/notesMaster1.xml" Id="R69b7083150de46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137eb13cfa4ddf" /><Relationship Type="http://schemas.openxmlformats.org/officeDocument/2006/relationships/notesMaster" Target="/ppt/notesMasters/notesMaster1.xml" Id="R126f873bba4f47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c6295108bf4038" /><Relationship Type="http://schemas.openxmlformats.org/officeDocument/2006/relationships/notesMaster" Target="/ppt/notesMasters/notesMaster1.xml" Id="R484f2cb5530a47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6403f6f66643e7" /><Relationship Type="http://schemas.openxmlformats.org/officeDocument/2006/relationships/notesMaster" Target="/ppt/notesMasters/notesMaster1.xml" Id="R47c1c9dad8a54a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267f5e0e274f05" /><Relationship Type="http://schemas.openxmlformats.org/officeDocument/2006/relationships/notesMaster" Target="/ppt/notesMasters/notesMaster1.xml" Id="Rf3c96f7737f841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2e9a94b6bf485f" /><Relationship Type="http://schemas.openxmlformats.org/officeDocument/2006/relationships/notesMaster" Target="/ppt/notesMasters/notesMaster1.xml" Id="R185290ccfb6f47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c05076f70d49c8" /><Relationship Type="http://schemas.openxmlformats.org/officeDocument/2006/relationships/notesMaster" Target="/ppt/notesMasters/notesMaster1.xml" Id="R8f44c614ef3241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568e8753424e01" /><Relationship Type="http://schemas.openxmlformats.org/officeDocument/2006/relationships/notesMaster" Target="/ppt/notesMasters/notesMaster1.xml" Id="R364ce4f6ee3f4f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309c75c30346a9" /><Relationship Type="http://schemas.openxmlformats.org/officeDocument/2006/relationships/notesMaster" Target="/ppt/notesMasters/notesMaster1.xml" Id="Rf89c8b542d514e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cf0c74dd254f61" /><Relationship Type="http://schemas.openxmlformats.org/officeDocument/2006/relationships/notesMaster" Target="/ppt/notesMasters/notesMaster1.xml" Id="R9f5f805d661849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6dd104b6d840c1" /><Relationship Type="http://schemas.openxmlformats.org/officeDocument/2006/relationships/notesMaster" Target="/ppt/notesMasters/notesMaster1.xml" Id="R096e8327449b4b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73a2906a8c4fa5" /><Relationship Type="http://schemas.openxmlformats.org/officeDocument/2006/relationships/notesMaster" Target="/ppt/notesMasters/notesMaster1.xml" Id="R9302696c950646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07f735a19c4f6b" /><Relationship Type="http://schemas.openxmlformats.org/officeDocument/2006/relationships/notesMaster" Target="/ppt/notesMasters/notesMaster1.xml" Id="R389cfbdd17c943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854aafe4184c38" /><Relationship Type="http://schemas.openxmlformats.org/officeDocument/2006/relationships/notesMaster" Target="/ppt/notesMasters/notesMaster1.xml" Id="Rdf542a2828c640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32c91599c44751" /><Relationship Type="http://schemas.openxmlformats.org/officeDocument/2006/relationships/notesMaster" Target="/ppt/notesMasters/notesMaster1.xml" Id="Re15b9a91419f45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b2dcd28ced4276" /><Relationship Type="http://schemas.openxmlformats.org/officeDocument/2006/relationships/notesMaster" Target="/ppt/notesMasters/notesMaster1.xml" Id="R9e85de697c3049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d39054060148a9" /><Relationship Type="http://schemas.openxmlformats.org/officeDocument/2006/relationships/notesMaster" Target="/ppt/notesMasters/notesMaster1.xml" Id="R1111c22042654c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84d56971104b54" /><Relationship Type="http://schemas.openxmlformats.org/officeDocument/2006/relationships/notesMaster" Target="/ppt/notesMasters/notesMaster1.xml" Id="R3cf9fa2110ac4b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d876b4d64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cdeb4890a445f" /><Relationship Type="http://schemas.openxmlformats.org/officeDocument/2006/relationships/slideLayout" Target="/ppt/slideLayouts/slideLayout1.xml" Id="R1db4199ac3754d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b4199ac3754d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bb41706b145e9" /><Relationship Type="http://schemas.openxmlformats.org/officeDocument/2006/relationships/notesSlide" Target="/ppt/notesSlides/notesSlide1.xml" Id="R8c520deb91954c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1e5d017284cfa" /><Relationship Type="http://schemas.openxmlformats.org/officeDocument/2006/relationships/notesSlide" Target="/ppt/notesSlides/notesSlide2.xml" Id="R73713600989748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88dff4964e82" /><Relationship Type="http://schemas.openxmlformats.org/officeDocument/2006/relationships/notesSlide" Target="/ppt/notesSlides/notesSlide3.xml" Id="R19f99f609cb74e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a6c7831914ac6" /><Relationship Type="http://schemas.openxmlformats.org/officeDocument/2006/relationships/notesSlide" Target="/ppt/notesSlides/notesSlide4.xml" Id="R441d796b31e9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03c30717f4725" /><Relationship Type="http://schemas.openxmlformats.org/officeDocument/2006/relationships/notesSlide" Target="/ppt/notesSlides/notesSlide5.xml" Id="Rc20ea48ff6c64d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66f28f6a14da1" /><Relationship Type="http://schemas.openxmlformats.org/officeDocument/2006/relationships/notesSlide" Target="/ppt/notesSlides/notesSlide6.xml" Id="R36ddca6befac4b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e0b64af1444e0" /><Relationship Type="http://schemas.openxmlformats.org/officeDocument/2006/relationships/notesSlide" Target="/ppt/notesSlides/notesSlide7.xml" Id="R320a80239dba48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28e5b91454e5e" /><Relationship Type="http://schemas.openxmlformats.org/officeDocument/2006/relationships/notesSlide" Target="/ppt/notesSlides/notesSlide8.xml" Id="R27701b3165a74a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b81573a14e87" /><Relationship Type="http://schemas.openxmlformats.org/officeDocument/2006/relationships/notesSlide" Target="/ppt/notesSlides/notesSlide9.xml" Id="Rd2fcdd07ce1d4a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51c27399a4e74" /><Relationship Type="http://schemas.openxmlformats.org/officeDocument/2006/relationships/notesSlide" Target="/ppt/notesSlides/notesSlide10.xml" Id="Re50df32cee364e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d892cb0884844" /><Relationship Type="http://schemas.openxmlformats.org/officeDocument/2006/relationships/notesSlide" Target="/ppt/notesSlides/notesSlide11.xml" Id="Ra2c46945acd448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7ce7654284a2b" /><Relationship Type="http://schemas.openxmlformats.org/officeDocument/2006/relationships/notesSlide" Target="/ppt/notesSlides/notesSlide12.xml" Id="R6aabfbda3f2a46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19fa13ae043ca" /><Relationship Type="http://schemas.openxmlformats.org/officeDocument/2006/relationships/notesSlide" Target="/ppt/notesSlides/notesSlide13.xml" Id="Rcf6a4900894d40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e9a0df01046c9" /><Relationship Type="http://schemas.openxmlformats.org/officeDocument/2006/relationships/notesSlide" Target="/ppt/notesSlides/notesSlide14.xml" Id="Rabd62a7d025947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40cc4edc24aa7" /><Relationship Type="http://schemas.openxmlformats.org/officeDocument/2006/relationships/notesSlide" Target="/ppt/notesSlides/notesSlide15.xml" Id="Rda8b3c7b28d442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fd31e37df42e2" /><Relationship Type="http://schemas.openxmlformats.org/officeDocument/2006/relationships/notesSlide" Target="/ppt/notesSlides/notesSlide16.xml" Id="R7c7aecd3b6a942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fec437c40497d" /><Relationship Type="http://schemas.openxmlformats.org/officeDocument/2006/relationships/notesSlide" Target="/ppt/notesSlides/notesSlide17.xml" Id="R6d8bbf891a6744a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c1aa4a28c4326" /><Relationship Type="http://schemas.openxmlformats.org/officeDocument/2006/relationships/notesSlide" Target="/ppt/notesSlides/notesSlide18.xml" Id="Rbdb17ff33b164f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2e55d0fad4f8d" /><Relationship Type="http://schemas.openxmlformats.org/officeDocument/2006/relationships/notesSlide" Target="/ppt/notesSlides/notesSlide19.xml" Id="Rcb88db4d98c442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acd717b8b4c6a" /><Relationship Type="http://schemas.openxmlformats.org/officeDocument/2006/relationships/notesSlide" Target="/ppt/notesSlides/notesSlide20.xml" Id="R254c5a1645ce49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8086ad7e14de3" /><Relationship Type="http://schemas.openxmlformats.org/officeDocument/2006/relationships/notesSlide" Target="/ppt/notesSlides/notesSlide21.xml" Id="R9a8afbbbeffd4d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530A3-AE7E-47A6-90D1-05A4EB90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8F55F-3CD5-4D69-AF08-9426890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DAY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E3CB0-AF19-4C6B-BA69-03C98322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66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Research</a:t>
            </a:r>
          </a:p>
          <a:p xmlns:a="http://schemas.openxmlformats.org/drawingml/2006/main">
            <a:pPr algn="l">
              <a:defRPr sz="4350" b="1" i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Detective’s Field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CD127-5198-4392-8148-5B2A2E04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CEBE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CEBE7"/>
                </a:solidFill>
                <a:latin typeface="Arial"/>
                <a:ea typeface="Arial"/>
                <a:cs typeface="Arial"/>
              </a:rPr>
              <a:t>Perplexity on the free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385B4-3E59-4EDC-A5E3-AA3FBA9F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37405-C9E9-47F1-A3DE-49FF58D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6F1E7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0F5F0-7686-4AC2-A983-3C7A0928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467FE-68F4-4EDD-9722-E72471B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623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6F1E7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256AE-4E86-4061-9DEB-5BDC2CC2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86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9FBF4-2403-40E3-B34E-CC3B6804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481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6F1E7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3241D-2588-455A-9549-55EB129A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3C034-23EE-46E8-8A14-48D438D8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19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6F1E7"/>
                </a:solidFill>
                <a:latin typeface="Arial"/>
                <a:ea typeface="Arial"/>
                <a:cs typeface="Arial"/>
              </a:rPr>
              <a:t>A four-hour, hands-on journey from “I found an answer” to “I can show the evidence.”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02B13-0C65-4A5E-B3ED-6DEB78A5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19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6F1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4721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F8E52-01CF-4AF1-98CB-BFE65674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5523C73-0FB4-4CD5-9A0E-CFDDD1D4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B2BCFB9E-BDF8-40AA-BAE1-6B12257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THE MYSTERY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98CF6-0B80-4869-A6F3-4A602236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A confident answer without evidence starts the mystery.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1F123-C7DB-4A4A-86BB-83CB3484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Meet Maya, a teacher preparing a short briefing for parents.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172FB-3115-46EC-BBC9-43F5D78B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17037-EE22-4BC5-B144-A2C3DD76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D50CC-8D01-45DC-8B6E-BCC7182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B516A-95A0-48AC-8D63-4B758389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DF584-4A5C-4269-8770-EA6957A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8CC3C-3A10-46A7-BEAC-CA6F7F99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CB494-5139-418B-B3FE-228BAE59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29337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“Does screen time always harm learning?”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She asks an AI assistant and receives a polished answer in seconds.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58F30-00CC-4E10-9F42-5845158E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5EDBC-5300-4D32-8E56-E7E9B749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A82B9-7C77-48B7-B5B9-00BF27E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The uncomfortable pause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84729-4C36-46EF-95B3-BD08080C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09925"/>
            <a:ext cx="29337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The answer sounds certain.</a:t>
            </a:r>
          </a:p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But: Which studies? How recent? Which ages? What do experts disagree about?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66E4-DAF9-4A54-8CE5-3FB9B7C1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F4C63-4BF9-469E-BAB9-2CF57C4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9C388-B6A0-4757-B99A-FC153BE7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9875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The detective move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978C5-8BCA-49B2-84A3-24D81930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9337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Maya needs an answer she can inspect, challenge, and explain. That is where Perplexity becomes useful.</a:t>
            </a:r>
          </a:p>
        </p:txBody>
      </p:sp>
    </p:spTree>
    <p:extLst>
      <p:ext uri="{BB962C8B-B14F-4D97-AF65-F5344CB8AC3E}">
        <p14:creationId xmlns:p14="http://schemas.microsoft.com/office/powerpoint/2010/main" val="4019139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11231-6640-4B18-A406-2FAC318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BDECE2DE-07B3-4A3C-AF9F-8E233420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7E1456D-55A1-4EAA-AF61-430FF450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THE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0A51A-EEBF-4DAD-8503-642B7A02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Perplexity behaves like search, reading, and conversation in one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BDAA2-2874-4148-8569-A759464F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It calls itself an AI answer engine: a direct answer plus a visible trail of sources.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06857-5E6C-4427-961D-CC584D1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EDDE3-D6BF-4291-AC4C-0E9E4835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Source: Perplexity Getting Started / Help Center, checked Jun 9,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F227D-C797-4566-85B4-B1A7163A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53A56-1302-44EF-B294-9AA5B79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F8E8D-D02C-44D1-9964-F58D367D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AC15B-4D9A-452F-9532-D730BFA4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Find current web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BAD6F-743B-47F1-9D8A-C34259C2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A5051-2F1F-4871-AF93-1D18A9ED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622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BF979-E977-4501-B9AD-D4890FEB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F9D34-8BA1-40C2-90E2-6EF9745A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243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Synthesize multiple 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1B282-8B8D-48B5-A3EC-40CD1683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1586D-B88C-40C7-8DCD-566DB0F1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327CC-D4AD-4CD5-B6CD-7CC9FF7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00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TALK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83CAF-3947-4F78-B0DA-B2D810EE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Ask follow-up 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4A833-1BFD-42B1-A56B-8B8BE0D7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6F1E7"/>
                </a:solidFill>
                <a:latin typeface="Arial"/>
                <a:ea typeface="Arial"/>
                <a:cs typeface="Arial"/>
              </a:rPr>
              <a:t>ANSWER + CITATIONS</a:t>
            </a:r>
          </a:p>
        </p:txBody>
      </p:sp>
    </p:spTree>
    <p:extLst>
      <p:ext uri="{BB962C8B-B14F-4D97-AF65-F5344CB8AC3E}">
        <p14:creationId xmlns:p14="http://schemas.microsoft.com/office/powerpoint/2010/main" val="19909659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DCCC4-5E5D-4930-A835-D7670C5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2A4E5095-9721-4C0B-B816-C19FFE9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FF11224E-F876-46B4-B10D-4259A8E0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ORIGIN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8411F-88BB-4FC6-B261-D642B4EC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Four engineers built an answer engine to make search deliver direct, cited answers.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DE04D-6A7D-4C38-9E98-453885A9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Perplexity AI was founded in San Francisco in August 2022.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DD69D-EC8B-4E0A-A1FE-140FDEFE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BA5A3-B9F9-4B98-B821-3F05C259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Source: Britannica, “Perplexity AI,” checked Jun 9,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813BB-0D54-4412-B9C0-15727C3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3883A-3588-46FB-AF0F-C9D5F3FE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72D9D-9CDE-47A8-BE1D-87DE179B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467A0-D37D-4FA4-B9DF-7A15111A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Aravind Srinivas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53EF9-1571-456D-ABA3-6810E95F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AI 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1E6C5-3A7A-4578-9449-3CEAE46E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20D7D-2983-492A-AB5E-8539A14D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Denis Yarats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C1A24-4E92-4E34-A0A4-EA3D0A79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95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AI systems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E0B84-F209-4279-8B06-84C2D24E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A8478-66E9-4F4C-9C29-DF86E46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Johnny Ho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5E7CD-2494-4123-8DF9-4E6235E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Engineering + strategy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6EA91-C4D0-4268-929B-D2AEB5E4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99EF9-33AA-4E48-9052-821DA54E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433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Andy Konwinski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E9A2D-F282-4562-A020-FF74501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Data platforms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BAB39-B265-49BF-880A-2E0B2B7E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Their frustration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975307-4449-4904-8D55-353FEAD7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7381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2829"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4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Traditional search often makes people hunt through links before they can understand the answer.</a:t>
            </a:r>
          </a:p>
        </p:txBody>
      </p:sp>
    </p:spTree>
    <p:extLst>
      <p:ext uri="{BB962C8B-B14F-4D97-AF65-F5344CB8AC3E}">
        <p14:creationId xmlns:p14="http://schemas.microsoft.com/office/powerpoint/2010/main" val="2503823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75890-C1C8-4AAA-BE4B-964DE9E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052D7FC-4032-4FEE-AA41-A80BBB2B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E10D434A-7526-4D2B-97F4-0CF78483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FREE TOOLKIT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846E1-C31E-42CC-99A2-97CB144E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The free plan is enough to learn the essential research habits.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1C3B9-40AB-477A-9850-DE0355E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Use the limits as a design challenge: ask fewer, sharper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9762B-6583-4234-9FE2-E4270D30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222EB-E0A5-4CD0-A536-6479B7E6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Source: Perplexity Help Center account guidance;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B2D95-0BD3-47E5-AC4B-C11DA73A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E63E7-5526-484D-B67B-4264E787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1B802-B0EE-4009-B206-796B3AFD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97C2A-80BA-487C-A41A-9E6522BC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Core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75C33-9010-4064-B22A-7291504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Fast, cited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6D1D7-3DDA-4E73-BD24-A59C1691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71750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8DAD6-AE56-4EB7-9BD3-207FC936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71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2B69A-ACAD-4630-825A-6BCAEA6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62250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5 Pro Searches/day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867DB-7624-486D-A573-86BA90E5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62300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Spend on complex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66723-F3A5-41E9-885D-0E50136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8BC3A-677D-4B9C-BD77-E43359F1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16A53-CD03-4649-958E-5E831C23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3 file uploads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A8D00-C2A5-4EDD-800A-E77C8C36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Choose documents carefully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F7E18-0D63-4A86-AE13-647DB2B7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71750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99931-04CC-4291-8A36-AB3C89F8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71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51321-2476-41EF-8A40-3D6BCE53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62250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Threads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61158-C417-4A6B-9D9D-1CFC449B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Keep asking follow-ups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EF54A-817F-436F-9227-3B80956A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7E1FA1-1E07-4A58-BFF1-E235900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2AC05-CD09-4D85-B8EB-15F94CE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Saved 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4B8D7-48C6-4E2B-A1A2-9C03DA0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Return to useful research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14ADC-3DF8-4475-97BC-4A82D98C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48125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57DC6D-EF16-4418-B6FB-043A7A94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48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486EF-B58B-4CD3-9AF1-BC79D8A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38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912B1-3E92-4B89-9DEF-798389C9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38675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Explore current topics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BE0F5-D7A3-4BFF-928C-6FC5948A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24182-91A2-43D0-935A-CC1CFD8E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B4735-01FA-4357-906A-B528D457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38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Spaces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E1205-DF4E-4020-BCB3-6198D86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38675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Organize project research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3A3850-4AEC-4701-A958-27E67281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48125"/>
            <a:ext cx="25241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0980A8-17D2-4CB7-A0B0-D02EE54B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48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43E883-F8B4-470E-8B86-37361DFA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38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Limited Research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C186B8-DC4B-469B-85CE-F6BF091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638675"/>
            <a:ext cx="21240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Try deeper reports</a:t>
            </a:r>
          </a:p>
        </p:txBody>
      </p:sp>
    </p:spTree>
    <p:extLst>
      <p:ext uri="{BB962C8B-B14F-4D97-AF65-F5344CB8AC3E}">
        <p14:creationId xmlns:p14="http://schemas.microsoft.com/office/powerpoint/2010/main" val="7656406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7FEE4-06D5-440A-829F-233D4076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FBB705AE-4A82-42C7-8A6D-C7543877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77570230-8089-48CB-A96F-8E3EE9AC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FIELD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9C718-AEBA-4A3A-9C68-741EAC9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8099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A strong Perplexity session follows six visible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D6C39-B9E9-4330-AF7C-103070EF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The answer is only step three; verification is where research becomes trustworthy.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0A962-9189-49F4-8127-533571B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E252B-7F53-4DB1-812D-EB37B43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A935E-55CC-4D9A-95D2-AD6C4DED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6FB2F-A691-4347-BFA1-556B4605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44662-F720-42B5-8A22-81A7C853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7FFC6-A3F3-4BEB-B707-3661D59F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576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1A443-AC06-4384-BB78-C604B9D5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719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Make the question precise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4B48C-4348-45CA-9F5B-A8CA32E9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484DF-AEE0-40B4-8678-6A009D4B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718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D277B-8A9B-43B1-85C6-4A681B7A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576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AC87A-5A74-4D16-9E38-0F4FB5AC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719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Choose useful source 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7E8A9-4436-41CA-9988-434C399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5D4B1-FCE6-41A3-9542-BD7E0E61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52E73-0CA2-4CBF-A214-5CAA7923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576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10719-290E-4247-99AB-86DDB5E9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1719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Scan the answer and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32A69-1B08-4DBB-8D49-889AF4B9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DC066-6C6E-4786-BF92-D8456BEA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B38B4-4104-40A5-A405-ABD61172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DF40A-A6E8-4A7D-AD65-3C7FC02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719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Open the citations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F3FA1-2A54-479A-B456-11757D8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4AD7E-0589-4BBE-9D02-6EAE02B6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3207F-71CC-4FD7-9E74-8FCD78C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576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FOLLOW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78596-1F52-40AB-9581-305F6FC7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719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Probe gaps and disagreements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B1EFAA-434C-4846-B904-01F20C67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B1B5E8-B4D9-4E8F-8286-AF6AB5B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576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6A9DF2-6C1E-4FE8-8897-A57D06A6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1719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Store the useful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E30AE-AE4D-46A4-907D-52C1F59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86375"/>
            <a:ext cx="438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6F1E7"/>
                </a:solidFill>
                <a:latin typeface="Arial"/>
                <a:ea typeface="Arial"/>
                <a:cs typeface="Arial"/>
              </a:rPr>
              <a:t>REPEAT UNTIL THE EVIDENCE IS GOOD ENOUGH</a:t>
            </a:r>
          </a:p>
        </p:txBody>
      </p:sp>
    </p:spTree>
    <p:extLst>
      <p:ext uri="{BB962C8B-B14F-4D97-AF65-F5344CB8AC3E}">
        <p14:creationId xmlns:p14="http://schemas.microsoft.com/office/powerpoint/2010/main" val="1589338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295CB-A5AD-4EAC-8A82-4982E1A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744EB697-B088-4B61-AC7B-CB91E0FF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633F88A-11E5-457F-8C7A-12D7EDF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CITATION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A9A37-433C-489F-BE57-DA509C73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The small source numbers are the most important part of the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8A57E-6B02-485E-82FF-393E5C98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Treat every major claim as a door; click the citation to see what is behind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A8237-FE23-477A-BF09-E64C4E0F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3F0BC-270C-4AD0-8A84-4598B70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5ABF4-2836-40DF-874D-FA19484C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8D789-8214-4B6B-A5DE-BA8BC8B8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E2B62-C694-4FDA-80EF-0AD6B49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Sample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37A9E-FEDD-43F2-B327-BBEE1D7F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00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Short movement breaks can improve attention during classroom learning.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4BAC4-5DAB-415D-9AAE-EFEAF184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36AF6-7C44-4C28-9F1A-D2AE77B3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571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The effect varies by age, activity type, and lesson design.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949DA-C831-4185-9F91-60C05FB2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FFA69-1D70-4E81-8C0E-D69BFFF0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A8433-FF7F-48E2-B4F7-4FF6018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62250"/>
            <a:ext cx="245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Open the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07A8B-51BD-40D9-93C0-C60982E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2457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Does it actually support the claim?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628A1-884E-4CEE-97AF-849A82BA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3B5F8-A89E-4913-849A-D42504E3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95700"/>
            <a:ext cx="245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Check the 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23B71-B775-4A61-889E-37BED0AC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81450"/>
            <a:ext cx="2457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Is the evidence still useful?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A8DD2-9ECA-41B8-8F0F-E195574B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40AD9-5A0A-4D14-B4A9-E510B8FE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29150"/>
            <a:ext cx="2457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Check the author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0E3EC-4EAB-4FA2-B368-66C823C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14900"/>
            <a:ext cx="2457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Expert, institution, seller, or anonymous?</a:t>
            </a:r>
          </a:p>
        </p:txBody>
      </p:sp>
    </p:spTree>
    <p:extLst>
      <p:ext uri="{BB962C8B-B14F-4D97-AF65-F5344CB8AC3E}">
        <p14:creationId xmlns:p14="http://schemas.microsoft.com/office/powerpoint/2010/main" val="13576670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FF7D3-A893-4BE7-BD09-B763CC7F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3EB7E90F-B657-4D16-8C27-BBA40CF1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DAF20AB-5251-477D-8379-E1ADFD9B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PROMPT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09F73-DF19-4694-9771-378924C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Better research prompts specify question, context, evidence, and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A409C-3F04-41DE-85BC-8311845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A prompt is a research brief, not a magic spell.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5EE7B-553E-4429-B8DC-81F2FE2F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4242B-95EC-4E41-BB93-5EE8972B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3AD21-119F-4DC5-B6E2-85D06BD0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1856B-6C76-4A4D-85C8-E9277541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2524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E1E7C-81FE-4FD7-AEE7-F6F6DDBD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F43EF-5214-4F33-B838-573F28F6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C93EF-46E9-4B21-B494-ADCD9F33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1240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What must be answered?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E25B4-3B56-48DC-828C-0A160D94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52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286C3-B182-4A96-82D8-4C28CFB2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24125"/>
            <a:ext cx="2524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97AAF-72D2-453A-9AF0-EA2FAA47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2412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50EB0-18AD-44EE-BF74-67A7099D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14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534CD-D463-4D2D-8CD6-B4EFE5A1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14675"/>
            <a:ext cx="21240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Who is it for, and why?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2BEE2-11C7-4CAE-9A46-C7DC4CF6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7FDD2-F689-4569-A34A-AF61D0C3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24125"/>
            <a:ext cx="2524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55575-C2EA-431C-8C71-BE397B2A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2412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6EA44-D2A1-4478-A146-D628AD17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2013D-6DF6-4FE8-ADC8-67E19C2D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21240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What sources and dates matter?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D5422-02AE-4720-A576-683242ED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52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F19F20-FE9E-4007-9E3C-D5D45F3C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24125"/>
            <a:ext cx="2524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B9276-C009-4DF8-8E19-CF70DBEC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2412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44789-5F56-4114-B86C-F0AC911A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146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7FF24-F972-4EDA-9FCA-7AEACAD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14675"/>
            <a:ext cx="21240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How should the result look?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C36EFF-E55C-439D-8BE2-4D8434B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990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D9E5B-49C7-4BDF-B937-FD339D55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86275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BB2C28-5362-4401-A80A-EC82A3FF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43475"/>
            <a:ext cx="9525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“For school leaders in Nepal, explain three evidence-based ways to reduce teacher administrative workload. Use sources from 2024 onward, note disagreements, and end with a five-point action list.”</a:t>
            </a:r>
          </a:p>
        </p:txBody>
      </p:sp>
    </p:spTree>
    <p:extLst>
      <p:ext uri="{BB962C8B-B14F-4D97-AF65-F5344CB8AC3E}">
        <p14:creationId xmlns:p14="http://schemas.microsoft.com/office/powerpoint/2010/main" val="18485228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D88F3-E673-4207-8B6F-6D102C1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B5FA2718-7D0A-4253-A3CB-236D347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28889236-ADFE-4C22-A1DC-61FFD743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PROMPT LABORATORY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58212-D593-4E94-A495-E09541DC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One topic can reveal five different Perplexity capabilities.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E7B22-3965-4192-899C-DD0C5CA3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Run the prompts in order. After each answer, inspect at least two citations.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AE18B-684F-46FE-A308-72A0BFC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EAD4B-A19D-49CC-9D3B-55234CE7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A3D76-A6EB-4D6F-85BF-A363F6B6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89236-2312-46F5-834C-59164DD0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D1868-2112-4F68-A133-D7E8916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5478B-6300-400D-9D66-1F9E5AA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3048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“What are the latest recommendations on teaching AI literacy in schools? Cite sources and show publication dates.”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EC35C-1853-4212-B4E6-10433E0D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59F08-AE15-4A1B-8E02-1D69F391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81275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5FACC-113D-4D39-A3C0-6D8FAC5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38475"/>
            <a:ext cx="3048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“Compare two viewpoints on homework effectiveness. Where do the sources disagree?”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F0A2C-37EA-4BD2-8DB2-9C51CCF7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50937-E4E4-414F-B20F-F285C584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81275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B34D1-2A2E-4BFA-9D2C-E6DA5C27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38475"/>
            <a:ext cx="3048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“Find recent academic evidence on retrieval practice. Explain it for a beginner teacher.”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D5595-ECF4-4F27-83FB-36760FFA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33875"/>
            <a:ext cx="3810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2220B-9CBC-491D-B976-1EA61C70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86275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DAB20-3796-4154-AF49-D297E62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43475"/>
            <a:ext cx="3429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“Which claim in your answer has the weakest evidence? Explain why.”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2E9DD-8512-4B65-B223-537AE381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5"/>
            <a:ext cx="3810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B526E-E0A3-4EC2-B6E7-0027108B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8627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SYNTHESIZE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A7CDF-9A97-49D4-82A9-45510DF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43475"/>
            <a:ext cx="3429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“Turn the strongest findings into a 150-word staff briefing with citations.”</a:t>
            </a:r>
          </a:p>
        </p:txBody>
      </p:sp>
    </p:spTree>
    <p:extLst>
      <p:ext uri="{BB962C8B-B14F-4D97-AF65-F5344CB8AC3E}">
        <p14:creationId xmlns:p14="http://schemas.microsoft.com/office/powerpoint/2010/main" val="1236917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54394E-F384-4318-A25D-6BB7F996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A084082D-8EA4-4517-ABF1-778EC62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C7D02F4-E0AA-424E-8F35-8E83B87F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C7695-7A60-4EF1-B649-93C121B8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Perplexity wins when the task begins with “find and verify.”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F94B2-4B97-4D09-A606-612C5ADC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There is no universal best AI tool; choose by the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36E5B-BEBA-4FB9-BBA7-A6DC06A2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B0D58-7DA6-406B-B7F6-6393687E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0611E-705B-4192-867C-E780B057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EB305-3404-4129-8945-7A21FA67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C28EC-1B02-4702-9648-8CADEB6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955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6F1E7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25C7E-AE15-4644-8275-46469E2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Best first 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8D3B7-C846-46DD-BFA0-5902EF3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BC4EE-F3AC-41D7-BFF3-37D09F5B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8610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Current facts + citations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60DE9-3AA5-46FD-BD73-CC1A3D42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Perplexity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93116-0811-4133-AD38-D7F88BFB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B954C-399E-458A-80C8-BE885E5C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766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Brainstorming + drafting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230E2-2177-4735-8FFD-FAA4C926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ChatGPT / Claude / Gemini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D828F-A669-4FE1-AE32-C03C1FD0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290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CAC09-C528-417C-B519-A6F2705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6720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Learning from a fixed source pack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23429-BF4A-4629-BA71-F245B957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NotebookLM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A01C6-6F69-4ACC-827C-DC4C3F69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29A3D-9E1A-49D8-98F3-278FA12E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Finding websites yourself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E2147-DB0D-46EC-95E7-6BB7FC3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Google / Bing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2A4A2-9E7C-4AE2-99A8-1A3D7F3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5304B-E28A-4F4C-B18B-BDF8FC6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48300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Building a reusable research room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DA834-9D0C-4592-AEFB-A6D3DD6B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Perplexity Space</a:t>
            </a:r>
          </a:p>
        </p:txBody>
      </p:sp>
    </p:spTree>
    <p:extLst>
      <p:ext uri="{BB962C8B-B14F-4D97-AF65-F5344CB8AC3E}">
        <p14:creationId xmlns:p14="http://schemas.microsoft.com/office/powerpoint/2010/main" val="12187133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7EA84-BE68-44CF-867A-396ADEC7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FB600A7C-4BEB-4B36-A56C-8E1CAFB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044EDC2-0E3B-4426-ACFF-26779E31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TOOL RELAY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BB96B-594B-419A-92BA-1650022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Different tools belong at different moments of the knowledge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B9A76-BB2D-4CF7-9520-60A863D7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Pass the work from discovery to understanding to creation.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8006C-8DC0-499C-A463-77E8D75E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5AAD7-3D23-4C1C-8F74-EC7512C2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6FB92-C0B2-4D05-B6CF-9B329B3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78C9E-5F51-49EB-99BE-DB18A4A6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3EC4F-4C38-4BE9-9BFF-D4B1F8D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E146A-EF66-44F9-B3AB-F2F92E8F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Google / Bing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3AA5A-C6AE-4706-9AFF-CC070CC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Browse many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39C0D-8E5E-4BD8-A062-476CF420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0C990-571A-4C09-85EE-BD35AA0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98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F0E56-B196-4FD4-8645-061B927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00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7900C-C881-4A22-BB16-719952F0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718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Perplexity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14B32-8BE0-4EFA-9C06-FA07FD31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Synthesize + cite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D5E9F-D39F-4EE6-8F1A-9215B48D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50AE7-6B32-4700-8AE1-6C7860A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E0FC8-FC43-4136-AA54-3CF62671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0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3. STUDY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56AEF-ADD4-4655-A887-E2F2A5F4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718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NotebookLM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73A3E-F9B4-4740-B346-505C4034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Learn from trusted 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A2160-8606-4DE8-9763-153DED8A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71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00A03-9C95-491B-9287-09BD8DA3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98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75C3E-EAD8-4C34-988F-8C708880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0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CREATE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67EFC-4791-4FF8-B2BE-2AF5BA2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524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ChatGPT / Claude / 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D9982-867D-4661-AF41-0E5FC41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Draft and transform</a:t>
            </a:r>
          </a:p>
        </p:txBody>
      </p:sp>
    </p:spTree>
    <p:extLst>
      <p:ext uri="{BB962C8B-B14F-4D97-AF65-F5344CB8AC3E}">
        <p14:creationId xmlns:p14="http://schemas.microsoft.com/office/powerpoint/2010/main" val="20780083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FC4002-504B-4ED7-BF84-F80A2E3D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23979CAD-7765-4E4A-9D7E-AB69BAF3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3A56F190-CF43-42E4-B0E6-9B7B06AD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CHOOSE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0724F-7F11-48EE-82C9-7B1C2EF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Source selection changes what kind of evidence enters the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5AED9-DA62-4829-9F6F-AFE8B224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Free users can work with web, academic papers, social threads, SEC filings, and attached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7B8D1-08C3-461F-B498-80D26D50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38799-474A-430D-B11B-F061177E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Source: Perplexity Spaces Help Center, checked Jun 9,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AD8C3-F93B-4D37-8D1C-36EEF1D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DFC97-A1C3-46B7-B3FA-0926B1F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90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B64CA-10F6-4EEC-8E96-C825A90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6125"/>
            <a:ext cx="2143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7B88D-8D67-4067-8217-78B29168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Current, broad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F0321-E47F-4C98-AFC8-6FBE9F3C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Check quality carefully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DB6C0-BBBA-489A-B329-10B4A246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90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3C808-FDEB-4CF6-8237-F64EEB74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86125"/>
            <a:ext cx="2143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AA2FB-6D64-458D-802B-25B52018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95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Research papers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7CD99-312E-4D22-B34F-DAA1BE5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00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May be technical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6FA7B-E0C4-47C6-8A20-473DD4F0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90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FBC0B-90E5-4132-89C4-FDE4C2EB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86125"/>
            <a:ext cx="2143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SOCIAL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05A76-F396-42BF-BC74-C9DAFEC1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Lived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CD946-A02E-4CD8-BA36-69E69DBF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Not verified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2220E-7C34-4542-B9DF-87A9931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64F04-125D-4A7E-8D63-BA2055EF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86125"/>
            <a:ext cx="2143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9795E-02ED-4AC2-8510-9500F9D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195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Company filings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1E028-1477-4920-9E8C-ED178ED5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00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Formal business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ACE72-5A07-40D4-B045-17E99216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590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41187-00D6-4C03-B076-AC84F6F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86125"/>
            <a:ext cx="2143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DB1B7-F6D0-4AB8-AB75-E5AF0654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195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Your documents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4CA72-5946-4E59-A92C-D230965E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Only as good as uploads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2BBA3-E80E-43F5-BB5C-F20DA137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8001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16271-D51B-4D36-921D-1A2AA47A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53025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AC86B-4E3A-45DA-9C8A-0E6D5948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10225"/>
            <a:ext cx="7620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3317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“Answer the same question using web sources, then academic sources. What changed in the claims, language, and confidence?”</a:t>
            </a:r>
          </a:p>
        </p:txBody>
      </p:sp>
    </p:spTree>
    <p:extLst>
      <p:ext uri="{BB962C8B-B14F-4D97-AF65-F5344CB8AC3E}">
        <p14:creationId xmlns:p14="http://schemas.microsoft.com/office/powerpoint/2010/main" val="20787186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91BBA-338A-47C7-9465-AA249BC3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1CA8A485-D2F3-4C3A-9B0E-97D4EF5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8EC7C4B7-173E-494B-968D-15E9D962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THREADS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47FE9-D968-4031-8589-725A586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Follow-up questions turn a search into an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8C481-741D-4BF5-9A9A-FACE7179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A Thread keeps the question, answer, citations, and follow-ups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89DBF-DFEE-48D7-9041-F5820948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5550A-F4E5-406C-A63C-DEF12403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66707-B39C-47FC-9491-0A464A4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5B35C-855B-44AF-A4CE-6024A66F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D29FF-5BBA-4262-B3AA-635BCAB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1666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479E2-A2A3-4A1B-8C0B-E3DCB04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38550"/>
            <a:ext cx="1285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What does the evidence say?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AD270-5AB8-4719-B622-BDEDF7BB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DB194-F29A-4A62-9B07-6FDF1545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71950"/>
            <a:ext cx="1666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B698A-792B-499C-8DD8-50C9E8AE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1285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Which sources disagree?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354EC-AF99-4557-AB2D-AC2B4CE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7806F-379B-478B-8F3C-C9CCFE5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1666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20A34-9B49-4438-B742-FAC230C9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38550"/>
            <a:ext cx="1285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What is missing?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7BF9A-FBBD-4407-BC85-7681F56A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6E026-D352-4CC5-A5AE-0ED20FBE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71950"/>
            <a:ext cx="1666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FA5FC-93A2-454C-A482-AFB22CF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1285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Explain for my audience.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DA446-B999-41D4-B7DA-EFB9E9B7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CCE96-2422-444E-8362-C5662D1B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38550"/>
            <a:ext cx="1285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Create a cautious conclusion.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7153F-5208-4FE0-A133-62750F6C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The best follow-up is often not “tell me more.” It is “show me where the evidence is weak.”</a:t>
            </a:r>
          </a:p>
        </p:txBody>
      </p:sp>
    </p:spTree>
    <p:extLst>
      <p:ext uri="{BB962C8B-B14F-4D97-AF65-F5344CB8AC3E}">
        <p14:creationId xmlns:p14="http://schemas.microsoft.com/office/powerpoint/2010/main" val="6566236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4604CE-9374-4ECE-ACA5-24F4EEA3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E0B5544F-886D-4020-84F3-67D5810A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68EA14C9-480F-488F-A058-92A73C6B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MULTI-DOCUMENT MOVE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D62C5-51FB-4F3C-A277-BA0C22E0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Three careful uploads can still produce a powerful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89E86-FAA2-4D26-B4DE-BD51B0BB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Use one policy, one report, and one local document. Ask Perplexity to separate fact from conflict.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C0C37-B5D7-409A-9A76-65E5E16C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A0E8D-FC6A-4CBA-9A01-E63B271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Free account guidance currently lists three file uploads;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E18CE-E4E3-48B6-870C-4DD1CB21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27C03-66F3-4C87-8733-82ED695D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80A1D-6E5D-4252-838F-834A840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AB315-5586-40D6-9837-77470B4C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98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School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053FF-BC2D-46F6-8E55-4C1E03DF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What must happen?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C2ED4-B39D-48ED-BA7F-6F7241B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79CD6-F455-4578-BC8D-79F1A57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9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317AC-85C6-4076-BB49-D11E9761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98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Research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AA2D5-1CE2-48A9-A35D-D9A1692D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What evidence supports it?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F2347-0194-4219-A802-DA75FDF8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152DA-C49A-4DBE-B622-DFC94CE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34610-33D6-4F7C-8DF4-84D3DB54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98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Meeting notes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D39B0-B747-4C2B-B9C7-8FBD9B2A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81375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What is happening locally?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B5F8A-DC66-484C-B18A-280D255B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3C46C-B420-40E9-86AD-76C0305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72025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CROSS-DOCUMENT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DDC9E-1299-45D8-98C3-6244CC81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29225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“Using only the attached documents: create a table of agreements, contradictions, and unanswered questions. Cite the document name for every row. Do not use the web.”</a:t>
            </a:r>
          </a:p>
        </p:txBody>
      </p:sp>
    </p:spTree>
    <p:extLst>
      <p:ext uri="{BB962C8B-B14F-4D97-AF65-F5344CB8AC3E}">
        <p14:creationId xmlns:p14="http://schemas.microsoft.com/office/powerpoint/2010/main" val="5320211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0E69C-CDAD-4C20-AE2C-DE84E7A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69553A11-AD78-429B-81AD-BD22F467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EB77F7D2-0F0E-4ACA-9A39-5927615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FB2FD-0547-4649-8A52-91B8478A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6444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A Space is a reusable research room, not just a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97295-9A42-47E4-BCAA-664A475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It groups Threads, instructions, sources, and collaborators around one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6CA14-0267-45C3-A8A4-D2C0FE77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13949-2E1C-4EB2-BDFE-1758F017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Source: Perplexity Spaces Help Center, checked Jun 9,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00A21-111E-47BA-9E63-0D9F6F14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EC300-2CC8-4B5D-A073-17AA3997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4191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AA9FA-73D5-40D9-B406-783013D8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25DA7-889B-4CCD-AEF7-0D0EADBA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476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4EDC2-D43F-4925-BD4A-DA86323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67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THREADS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1FF55-6164-49AA-B1E5-BF69D2D0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85402-6FE5-4A41-9642-C516D504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476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B0F62-F71D-4965-B236-544DAEA0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4E481-E6EF-4406-96AD-18C32E16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6E306-075A-4888-964C-4B24D53D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2476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7EA15-C19B-4DF6-9CAB-EA7C9503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339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E3A16-A6C5-459C-AE3E-C1233D55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530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01B4E-13DE-422C-9E28-0DB42587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2476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8DF04-A2FE-4F7E-BDE9-EB4EEFFA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3C02A-62B8-4BE8-8597-B85D30FE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7D7BB-13BA-4BEC-B786-7E424625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Example: “Grade 8 Climate Project”</a:t>
            </a:r>
          </a:p>
          <a:p xmlns:a="http://schemas.openxmlformats.org/drawingml/2006/main">
            <a:pPr algn="ctr">
              <a:defRPr sz="1275" b="0" i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Every new Thread begins with the same research rules.</a:t>
            </a:r>
          </a:p>
        </p:txBody>
      </p:sp>
    </p:spTree>
    <p:extLst>
      <p:ext uri="{BB962C8B-B14F-4D97-AF65-F5344CB8AC3E}">
        <p14:creationId xmlns:p14="http://schemas.microsoft.com/office/powerpoint/2010/main" val="397249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FF92C-E9AC-429B-911A-A7C19A59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8B0EB033-E0BB-4AE7-9E89-600EC27C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9C78111D-C910-44E8-A8F9-E8F8228B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BUILD THE ROOM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4B87D-05D6-478D-9F75-7246AF81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Custom instructions make the Space behave like a careful research assistant.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0CD79-B5A1-4578-852E-E02F9338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Write the rules once, then reuse them in every Thread.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0824B-61A3-45C9-9817-19D06A5A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DB561-F6B9-44CF-A7B9-70ED5134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7D4B7-0FDC-4A5A-ADD1-E03644C9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EB78-867C-4AEE-94EB-7DCB483C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667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6F3D5-A887-49A2-9EE7-1615AAE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0A6AF-9304-4A5E-8B83-6A410201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628650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“You support teachers at a secondary school in Nepal. Prefer sources from governments, universities, and recognized organizations. Always show publication dates. Separate evidence from suggestions. Use simple English and flag uncertainty.”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A6438-FB16-4337-AADE-747DC4A0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BEDFF-16C3-4F1A-A159-942060B7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47950"/>
            <a:ext cx="2886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Name it clearly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5C766-1B0B-4DCF-B668-A1ADF62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33700"/>
            <a:ext cx="28860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Project + audience +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78BC1-8A00-4F32-9DEF-0B2507F4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67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A923D-4139-4798-BC8E-17B720B9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2886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Set evidence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30F89-D001-4549-B20E-6E017D7C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33825"/>
            <a:ext cx="28860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Preferred sources, dates, and exclusions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A8D00-AE74-4794-99C2-A7CE9CE1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4DE74-29D9-49BF-8F13-094944E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648200"/>
            <a:ext cx="2886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Set answer 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F44F1-94C7-4F08-BF86-984C12D5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933950"/>
            <a:ext cx="28860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Tone, length, language, and format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1E9EF-7B5F-4D18-A3DF-026F1E38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858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6F1E7"/>
                </a:solidFill>
                <a:latin typeface="Arial"/>
                <a:ea typeface="Arial"/>
                <a:cs typeface="Arial"/>
              </a:rPr>
              <a:t>FREE-PLAN PRACTICE: BUILD ONE SPACE, THEN ADD TWO THREADS</a:t>
            </a:r>
          </a:p>
        </p:txBody>
      </p:sp>
    </p:spTree>
    <p:extLst>
      <p:ext uri="{BB962C8B-B14F-4D97-AF65-F5344CB8AC3E}">
        <p14:creationId xmlns:p14="http://schemas.microsoft.com/office/powerpoint/2010/main" val="7755966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E5795-32AB-432E-B37B-EC39B0E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AB6F0F2A-FBA3-4866-95AB-8C72DBB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6E8BC2C6-32E2-487E-8F66-AB39CE2F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RED-TEAM THE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BEC88-5DAE-4075-829C-14276982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Perplexity can still be wrong, incomplete, or poorly sourced.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F6B68-CDFA-4A6B-8508-AFEEB5DE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Citations make checking possible; they do not make checking optional.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36525-DFCC-4D91-A3DF-B466E1F0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C2FF2-F3FA-47C1-BF22-49839FDE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5DEFD-B12B-4AF0-B93B-10A62758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1DA8C-8659-47B0-A802-6F7A176F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196F-83AB-4056-AEEC-91C4239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193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766D2-9431-48C1-9E50-6C6CD8D8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Is it specific enough to verify?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6AF9C-6B3B-4CAA-8005-CEC9E31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8A63D-4C1D-4FD5-88DB-7B368CD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193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8A994-CC7E-4262-8B1A-A4B7F406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Does the source support that exact claim?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91C7A-F795-4566-A995-535C22D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6A2A3-F6F3-4697-B3CC-DBA73A51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623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9E9D2-D7E5-4DD1-9967-DB8DAAA1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Is it credible for this topic?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C112B-62DB-4500-B1FF-83DD3337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E403B-793C-45AB-B378-3D32406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23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697F1-8CAA-4EEA-A7A1-C9C95D96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57625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Is it recent enough?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BA9FC-A10E-400E-A053-34A5CABF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D2972-8135-4B04-ACDA-693F2A2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053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Balance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C7648-A506-40D1-9460-8471D35B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Are important disagreements missing?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36AB3-05C6-44EF-A927-311080C7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7A25F-F3FE-47F9-9581-19E5A42F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053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51E5F-F57C-4AD9-894B-60DF639C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00625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Did you upload sensitive information?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BBB78-312F-4794-BA95-D8CB9A3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5433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54334"/>
                </a:solidFill>
                <a:latin typeface="Arial"/>
                <a:ea typeface="Arial"/>
                <a:cs typeface="Arial"/>
              </a:rPr>
              <a:t>Rule: Never paste private student, staff, medical, financial, or confidential data into a public AI tool.</a:t>
            </a:r>
          </a:p>
        </p:txBody>
      </p:sp>
    </p:spTree>
    <p:extLst>
      <p:ext uri="{BB962C8B-B14F-4D97-AF65-F5344CB8AC3E}">
        <p14:creationId xmlns:p14="http://schemas.microsoft.com/office/powerpoint/2010/main" val="51103778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D2276-042F-4813-8B60-96A4839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6FE9A2EB-45CE-41EE-A5AF-EEBAF03A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27AAC363-5754-4ACD-B993-CB5E7FF5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FOUR-HOUR SYLLABUS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506E5-1A8A-424B-8D8C-186FEEE4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The session alternates story, demo, experiment, and creation.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96CD-2FA0-4866-A019-4C3097D2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Every block ends with a visible learner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4B590-0084-4E1A-B8D0-ADB37200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BB0AE-A519-42BF-A704-B5D21CB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89FC9-4AF8-4085-8E8A-EF7D9676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DC895-92E0-43BD-9488-AE4CF9E4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9444F-1B13-4FE5-B991-BF323604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00:00–00:25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5C5CE-4647-4586-B4CA-A13ABC25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384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Mystery + origin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5E66B-3D9D-4086-ABA1-AEADB49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Explain answer engines; compare a confident answer with a cited answer.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3F0A6-F701-4738-B4D6-5B0E4FEE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FEEC3-98D1-4FDD-AFFE-DE40850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66975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00:25–01:05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D2B20-E05A-4F99-B40D-EAA8724F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Search + citations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7F073-7813-4267-8280-F0A3DBB5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Run first prompts; open, judge, and remove weak sources.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C57CB-C12A-4EA0-B0AD-7996E5A8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443EE-FF4E-4E79-B7D2-F9F50F46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01:05–01:15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870FB-481C-48A6-9D52-F105F4D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4327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DFD77-5E6B-4597-8C61-67B983C1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D57B7-EED7-4782-936D-12E81234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29153-E970-48CC-BC21-62C7721D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18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01:15–02:00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B1615-F668-4E2B-BA90-DEDAEB94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4327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Prompt lab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18F4B-42DA-424B-9AD7-B9DAD7F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Test current, compare, academic, follow-up, and synthesis prompts.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ADFDE-AB0F-47B8-8E89-800908CA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5A336-E6AE-4E7E-931F-6498D380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02:00–02:40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36F58-85EA-458C-95F8-4184108C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Files + Spaces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1C981-66BB-4C75-AE57-394C8446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38625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Upload selected documents; build one reusable Space.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F58C44-305B-4295-BF7E-96C7D03C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B5BB4-F582-40EA-B026-71820F8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76725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02:40–02:50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54A74-C577-40DB-88EB-B9E17987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Break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0A7C3-B0FF-41D1-BBA8-5F16825D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38625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Reset.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13F8F-EBB3-4EF1-B17A-0900CB4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F755EB-7B83-4F8A-8E20-E783AD61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02:50–03:35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CF535-1DA8-4768-A6A1-E20CF5A0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5302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Capstone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269843-5005-4EB5-8FDA-12F12E1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43500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Create a source-backed mini-brief in pairs.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770F9F-79F2-4BD9-90FC-5C18C46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EBE7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B87FCE-B76F-4A0D-8F26-66C1DD55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160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76F51"/>
                </a:solidFill>
                <a:latin typeface="Arial"/>
                <a:ea typeface="Arial"/>
                <a:cs typeface="Arial"/>
              </a:rPr>
              <a:t>03:35–04:00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AA2620-3BA1-4136-85F8-29B10677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5302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Share + reflect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4ED116-5BA2-4969-AD2B-39C11B5F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43500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0">
            <a:solidFill>
              <a:srgbClr val="DCEB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Explain one finding, one citation, and one limitation.</a:t>
            </a:r>
          </a:p>
        </p:txBody>
      </p:sp>
    </p:spTree>
    <p:extLst>
      <p:ext uri="{BB962C8B-B14F-4D97-AF65-F5344CB8AC3E}">
        <p14:creationId xmlns:p14="http://schemas.microsoft.com/office/powerpoint/2010/main" val="71101142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447FA3-6561-4927-8CF2-084DC04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8AFE9206-EDCA-400A-812B-74B5C01B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B13ECAA4-1BF4-4B09-A0CF-8335D1CB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CAPSTONE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7BCF1-057F-417A-861F-47B17669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Learners build a source-backed brief from web evidence and documents.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A9766-155A-4444-9AC8-E305D581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Pairs choose a practical school or workplace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09611-D2D6-4364-BB18-C9CC268D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4AADC-9DF0-42E8-BCF4-79CEEAFC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63BCC-D6C7-44CC-AA58-4240C0D6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83120-D529-4B0A-BA73-E9F86B68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67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67F51-6E1C-4DC5-86D0-B6A3B13C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047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91A2B-6FBB-47E9-8D09-ED6FB300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86175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One clear, useful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AC294-3323-4634-AE6C-1C4060F1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574C4-0850-4FC1-853E-134B295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2047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BF606-A2A0-44CD-B6B4-2106F83D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86175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At least 4 credible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AB42E-453A-41F2-B06F-6EB7A41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67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4F4C0-D1A3-4AD8-BFB8-F788C051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2047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18DA9-C745-447E-8031-E52610F1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86175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Compare up to 3 selected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32130-700D-4A9D-867F-7635DC0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70317-8329-4458-A45C-9BAC535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047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5C44B-0CAA-4B14-AD19-7E6F82F1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86175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250 words + 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E6996-9930-41DA-BC49-A9A10E82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67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42AF5-0E48-432E-ADA3-762BEF8A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33750"/>
            <a:ext cx="2047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70BD0-FFEA-47F8-A802-7A6DDE8A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686175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One limitation + next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28EF1-41CD-4931-98BD-AA9821E6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923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39804-34D5-48C5-84BC-905E1102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91490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1C6DC-0F9C-4ECC-95CC-6FFBDD6C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72100"/>
            <a:ext cx="885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“Research one realistic improvement for our school or workplace. Explain the evidence, compare it with our uploaded documents, cite every major claim, and state what remains uncertain.”</a:t>
            </a:r>
          </a:p>
        </p:txBody>
      </p:sp>
    </p:spTree>
    <p:extLst>
      <p:ext uri="{BB962C8B-B14F-4D97-AF65-F5344CB8AC3E}">
        <p14:creationId xmlns:p14="http://schemas.microsoft.com/office/powerpoint/2010/main" val="17835260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05400-56DD-4F0C-8899-D7F87D17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F39677E1-C408-4F6F-9565-CB03F48F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99B97EAE-DCB9-431F-A6D0-02AADFEA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TAKE-HOME PROMPT PACK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DE241-3A36-462C-BE9B-1B959D2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Six prompts make the research habit repeatable.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3EA47-438A-4C44-843A-73C6809C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Save these in a Space or personal prompt library.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3E65D-7CCF-4626-B382-693F2974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83977-89BD-44E7-B4C2-8648EF41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676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676"/>
                </a:solidFill>
                <a:latin typeface="Arial"/>
                <a:ea typeface="Arial"/>
                <a:cs typeface="Arial"/>
              </a:rPr>
              <a:t>Day 7 • Free-plan focused • limits may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A0EF2-8D68-4063-BD65-6C926E7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02A2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E6127-67F6-41C0-BA3E-E2583730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542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FFAC8-F2D9-43E3-9FF3-3BA3BE96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BA0E2-5A77-4F40-936D-810BEAAE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“Explain [topic] for [audience]. Cite credible sources and show dates.”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53874-9479-4B2D-ACF5-2A09244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542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AC269-CF9C-4D33-8215-9AC83CCB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3D1F1-D38F-4A3C-B823-9DBECCD0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“Compare [A] and [B]. Use the same criteria and identify disagreements.”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39666-76D9-4B94-BA92-1C1488A7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542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E586D-5EA9-44C1-8801-622EC98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800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77118-5467-4FAE-8241-FD51284F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603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“Which claims are weakly supported? Show the citation and explain the concern.”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7BD5C-1C04-4956-971A-0F519C51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542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582BF-CAEF-40D7-8E2F-9A29779C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E9C23-A028-4543-B91D-EA3C32A9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2910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89017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“Using only the attachments, list agreements, contradictions, and missing information.”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89E2B-0B42-4073-B94F-E5A778B6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542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7839C-D1A9-4EDE-8DC7-B0DF2AEB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800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ACD62-9265-496B-B1D9-F34FF5C2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“What important question have I not asked yet?”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8005C-50A1-47C2-B637-AEFECA4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7750"/>
            <a:ext cx="542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E7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88583-A9E9-4B88-BFC6-9BEEC9F8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CF1A9-2E65-46FE-BE48-FF6F6142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673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02A2B"/>
                </a:solidFill>
                <a:latin typeface="Georgia"/>
                <a:ea typeface="Georgia"/>
                <a:cs typeface="Georgia"/>
              </a:rPr>
              <a:t>“Turn the strongest evidence into a cautious one-page brief with citations.”</a:t>
            </a:r>
          </a:p>
        </p:txBody>
      </p:sp>
    </p:spTree>
    <p:extLst>
      <p:ext uri="{BB962C8B-B14F-4D97-AF65-F5344CB8AC3E}">
        <p14:creationId xmlns:p14="http://schemas.microsoft.com/office/powerpoint/2010/main" val="132765852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A6995-B56B-4272-944B-A49E5BBE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</p:sp>
      <p:sp>
        <p:nvSpPr>
          <p:cNvPr id="2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92EAD132-964A-4147-95B9-06FD2B98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E2D23519-3F48-4EB5-A36C-D7A23FF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46E43-E9BA-4CEA-9EB3-DF5DB05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goal is not faster answers. It is faster, inspectable understanding.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8D833-51D0-41CB-B080-86DD42B1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BE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BE7"/>
                </a:solidFill>
                <a:latin typeface="Arial"/>
                <a:ea typeface="Arial"/>
                <a:cs typeface="Arial"/>
              </a:rPr>
              <a:t>A good research detective can explain both the conclusion and the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0F7C5-31E5-41E2-8970-124A27A2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5265F-C242-413A-B407-36976306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DCEBE7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DCEBE7"/>
                </a:solidFill>
                <a:latin typeface="Arial"/>
                <a:ea typeface="Arial"/>
                <a:cs typeface="Arial"/>
              </a:rPr>
              <a:t>Sources and free-plan limits checked Jun 9,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72A44-6F33-4532-8F8A-C32FE94B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6F1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6F1E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5D84B-0BC8-4C56-80BD-10267A01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D379-1249-4384-B73F-5B3384CD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01052-0551-4ABA-A076-CF12AEBD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CEBE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CEBE7"/>
                </a:solidFill>
                <a:latin typeface="Arial"/>
                <a:ea typeface="Arial"/>
                <a:cs typeface="Arial"/>
              </a:rPr>
              <a:t>a sharper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B4402-B861-471B-A4D8-D2F3E46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B0879-D9C7-4B35-8AA9-F7ABD5B7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D20D4-AB90-4E2C-818A-12EF08B5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7195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CEBE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CEBE7"/>
                </a:solidFill>
                <a:latin typeface="Arial"/>
                <a:ea typeface="Arial"/>
                <a:cs typeface="Arial"/>
              </a:rPr>
              <a:t>the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D0A73-3A61-46AB-B5F7-E1CE9B15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27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834E5-1929-429E-A726-21552802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6570E-FB8A-435D-B0BF-239BA30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CEBE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CEBE7"/>
                </a:solidFill>
                <a:latin typeface="Arial"/>
                <a:ea typeface="Arial"/>
                <a:cs typeface="Arial"/>
              </a:rPr>
              <a:t>before you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1BA53-01E8-4582-8524-4D0A6A8A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53CC4-3217-40D7-9EF7-39CB9CC7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100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9C46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9C46A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E74E0-4D8A-4484-A10A-ECB57A35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7195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CEBE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CEBE7"/>
                </a:solidFill>
                <a:latin typeface="Arial"/>
                <a:ea typeface="Arial"/>
                <a:cs typeface="Arial"/>
              </a:rPr>
              <a:t>with honest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028F9-FA3D-4B2F-8925-C9D79548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B"/>
          </a:solidFill>
          <a:ln xmlns:a="http://schemas.openxmlformats.org/drawingml/2006/main" w="0">
            <a:solidFill>
              <a:srgbClr val="102A2B"/>
            </a:solidFill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Exit ticket: Show one citation you trust, one you rejected, and why.</a:t>
            </a:r>
          </a:p>
        </p:txBody>
      </p:sp>
    </p:spTree>
    <p:extLst>
      <p:ext uri="{BB962C8B-B14F-4D97-AF65-F5344CB8AC3E}">
        <p14:creationId xmlns:p14="http://schemas.microsoft.com/office/powerpoint/2010/main" val="225002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2026-06-09T15:18:57.5860000Z</dcterms:created>
  <dcterms:modified xsi:type="dcterms:W3CDTF">2026-06-09T15:18:57.5860000Z</dcterms:modified>
</coreProperties>
</file>